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comercial baseada no briefing e na documentação local do PontoFácil. Imagem de equipe gerada por IA, de caráter conceitual. Mockups e dados dos slides seguintes são ilustrativos; não representam resultados de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01, 02 e 03 representam somente etapas de um fluxo ilustrativo. Não são métricas de desempenho. Explorar com o cliente quais dessas dores estão presentes em sua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documentação descreve uma aplicação web PHP com interface responsiva. A experiência mobile apresentada é conceitual, acessível pelo navegador; não implica publicação de aplicativo em lojas.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Reconhecimento facial apoia o controle de identidade; não representa garantia de ausência de fraude. Não se afirma detecção de vivacidade. Modelos locais não significam ausência total de tráfego de dados nem funcionamento integral offline. Validar configuração e ambiente na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 portfólio de recursos solicitado no briefing. A configuração de regras e permissões deve ser adaptada à operação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 conceitual. Todos os números são ilustrativos. Registros do dia = 384; quatro tipos com 96 cada somam 384. Os registros por dia representam uma semana ilustrativa. A expressão tempo real descreve a proposta do painel; não estabelece latência ou atualização automática garantida.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e pessoas são fictícios, para exemplificar a apresentação dos relatórios. Gráfico e tabela são recortes independentes. A exportação para Excel utiliza arquivo compatível, conforme implementação; PDF pode ser gerado pelo fluxo de impressão. Não prometer integração automática com folha de pagamento.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perfis de acesso seguem a documentação do projeto. HTTPS depende da configuração de implantação e as permissões de câmera dependem do navegador. O slide não afirma certificações, conformidade legal automática, criptografia específica nem garantia absoluta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qualitativa de formas de trabalho. Benefícios esperados pelo uso da plataforma; não são resultados medidos nem garantias de economia ou produtividade.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Personalizar antes de apresentar: substituir SUA LOGO, nome do apresentador, contato e site. Substituir o campo reservado por QR Code válido para a URL de demonstração. O marcador visual atual não é um QR Code escaneável.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2B3856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0"/>
            <a:ext cx="5413248" cy="6858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0" y="0"/>
            <a:ext cx="6784848" cy="6858000"/>
          </a:xfrm>
          <a:prstGeom prst="rect">
            <a:avLst/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7220" y="461772"/>
            <a:ext cx="228600" cy="22860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507492"/>
            <a:ext cx="0" cy="685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1"/>
          <p:cNvSpPr/>
          <p:nvPr/>
        </p:nvSpPr>
        <p:spPr>
          <a:xfrm>
            <a:off x="731520" y="576072"/>
            <a:ext cx="57150" cy="3429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Text 12"/>
          <p:cNvSpPr/>
          <p:nvPr/>
        </p:nvSpPr>
        <p:spPr>
          <a:xfrm>
            <a:off x="950976" y="4160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94360" y="1444752"/>
            <a:ext cx="3154680" cy="310896"/>
          </a:xfrm>
          <a:prstGeom prst="roundRect">
            <a:avLst>
              <a:gd name="adj" fmla="val 35294"/>
            </a:avLst>
          </a:prstGeom>
          <a:solidFill>
            <a:srgbClr val="233254"/>
          </a:solidFill>
          <a:ln w="12700">
            <a:solidFill>
              <a:srgbClr val="23325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" y="14447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CC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 DE JORNADA CONECTADA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94360" y="202996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4900" dirty="0"/>
          </a:p>
        </p:txBody>
      </p:sp>
      <p:sp>
        <p:nvSpPr>
          <p:cNvPr id="20" name="Text 16"/>
          <p:cNvSpPr/>
          <p:nvPr/>
        </p:nvSpPr>
        <p:spPr>
          <a:xfrm>
            <a:off x="59436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ponto inteligente,</a:t>
            </a:r>
            <a:endParaRPr lang="en-US" sz="2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seguro e conectado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594360" y="4315968"/>
            <a:ext cx="502920" cy="45720"/>
          </a:xfrm>
          <a:prstGeom prst="rect">
            <a:avLst/>
          </a:prstGeom>
          <a:solidFill>
            <a:srgbClr val="22BA90"/>
          </a:solidFill>
          <a:ln w="12700">
            <a:solidFill>
              <a:srgbClr val="22BA9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" y="4599432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eficiência para o RH.</a:t>
            </a:r>
            <a:endParaRPr lang="en-US" sz="1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transparência para toda a empresa.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94360" y="5980176"/>
            <a:ext cx="2926080" cy="310896"/>
          </a:xfrm>
          <a:prstGeom prst="roundRect">
            <a:avLst>
              <a:gd name="adj" fmla="val 35294"/>
            </a:avLst>
          </a:prstGeom>
          <a:solidFill>
            <a:srgbClr val="233254"/>
          </a:solidFill>
          <a:ln w="12700">
            <a:solidFill>
              <a:srgbClr val="23325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5800" y="5980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CC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 +  EXPERIÊNCIA MOBILE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370064" y="5458968"/>
            <a:ext cx="4251960" cy="722376"/>
          </a:xfrm>
          <a:prstGeom prst="roundRect">
            <a:avLst>
              <a:gd name="adj" fmla="val 20253"/>
            </a:avLst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 flipV="1">
            <a:off x="7609332" y="5670804"/>
            <a:ext cx="0" cy="8686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7" name="Shape 23"/>
          <p:cNvSpPr/>
          <p:nvPr/>
        </p:nvSpPr>
        <p:spPr>
          <a:xfrm>
            <a:off x="7609332" y="5670804"/>
            <a:ext cx="86868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8" name="Shape 24"/>
          <p:cNvSpPr/>
          <p:nvPr/>
        </p:nvSpPr>
        <p:spPr>
          <a:xfrm>
            <a:off x="7812024" y="5670804"/>
            <a:ext cx="86868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9" name="Shape 25"/>
          <p:cNvSpPr/>
          <p:nvPr/>
        </p:nvSpPr>
        <p:spPr>
          <a:xfrm>
            <a:off x="7898892" y="5670804"/>
            <a:ext cx="0" cy="8686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0" name="Shape 26"/>
          <p:cNvSpPr/>
          <p:nvPr/>
        </p:nvSpPr>
        <p:spPr>
          <a:xfrm>
            <a:off x="7898892" y="5873496"/>
            <a:ext cx="0" cy="8686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1" name="Shape 27"/>
          <p:cNvSpPr/>
          <p:nvPr/>
        </p:nvSpPr>
        <p:spPr>
          <a:xfrm flipH="1">
            <a:off x="7812024" y="5960364"/>
            <a:ext cx="86868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2" name="Shape 28"/>
          <p:cNvSpPr/>
          <p:nvPr/>
        </p:nvSpPr>
        <p:spPr>
          <a:xfrm flipH="1">
            <a:off x="7609332" y="5960364"/>
            <a:ext cx="86868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3" name="Shape 29"/>
          <p:cNvSpPr/>
          <p:nvPr/>
        </p:nvSpPr>
        <p:spPr>
          <a:xfrm flipV="1">
            <a:off x="7609332" y="5873496"/>
            <a:ext cx="0" cy="8686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4" name="Shape 30"/>
          <p:cNvSpPr/>
          <p:nvPr/>
        </p:nvSpPr>
        <p:spPr>
          <a:xfrm>
            <a:off x="7696200" y="5728716"/>
            <a:ext cx="115824" cy="115824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681722" y="5902452"/>
            <a:ext cx="144780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6" name="Text 32"/>
          <p:cNvSpPr/>
          <p:nvPr/>
        </p:nvSpPr>
        <p:spPr>
          <a:xfrm>
            <a:off x="8092440" y="5623560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Tecnologia que aproxima pessoas</a:t>
            </a:r>
            <a:endParaRPr lang="en-US" sz="13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DESAFIO DAS EMPRESAS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o ponto se fragmenta,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gestão perde clareza.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DFE5F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3566160" cy="1344168"/>
          </a:xfrm>
          <a:prstGeom prst="roundRect">
            <a:avLst>
              <a:gd name="adj" fmla="val 8163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7908" y="2817114"/>
            <a:ext cx="225552" cy="28194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296" y="2887599"/>
            <a:ext cx="112776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44296" y="2958084"/>
            <a:ext cx="112776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44296" y="3028569"/>
            <a:ext cx="70485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43584" y="27706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manuais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333756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Planilhas e conferências repetidas.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5968" y="2587752"/>
            <a:ext cx="3566160" cy="1344168"/>
          </a:xfrm>
          <a:prstGeom prst="roundRect">
            <a:avLst>
              <a:gd name="adj" fmla="val 8163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7042" y="2817114"/>
            <a:ext cx="281940" cy="2819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8012" y="2873502"/>
            <a:ext cx="0" cy="84582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668012" y="2958084"/>
            <a:ext cx="70485" cy="42291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5010912" y="27706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de jornada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98848" y="333756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 que exigem atenção do RH.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3296" y="2587752"/>
            <a:ext cx="3566160" cy="1344168"/>
          </a:xfrm>
          <a:prstGeom prst="roundRect">
            <a:avLst>
              <a:gd name="adj" fmla="val 8163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8952" y="2817114"/>
            <a:ext cx="112776" cy="11277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8322564" y="3028569"/>
            <a:ext cx="0" cy="7048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flipV="1">
            <a:off x="8322564" y="2972181"/>
            <a:ext cx="84582" cy="56388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8407146" y="2972181"/>
            <a:ext cx="563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463534" y="2972181"/>
            <a:ext cx="84582" cy="56388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548116" y="3028569"/>
            <a:ext cx="0" cy="7048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8778240" y="27706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Equipes dispersas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66176" y="333756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Acompanhamento entre áreas e filiais.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142232"/>
            <a:ext cx="3566160" cy="1344168"/>
          </a:xfrm>
          <a:prstGeom prst="roundRect">
            <a:avLst>
              <a:gd name="adj" fmla="val 8163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9714" y="4371594"/>
            <a:ext cx="281940" cy="2819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6102" y="4512564"/>
            <a:ext cx="56388" cy="56388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flipV="1">
            <a:off x="872490" y="4456176"/>
            <a:ext cx="112776" cy="112776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1243584" y="432511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Aprovações demoradas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31520" y="489204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sem um fluxo centralizado.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15968" y="4142232"/>
            <a:ext cx="3566160" cy="1344168"/>
          </a:xfrm>
          <a:prstGeom prst="roundRect">
            <a:avLst>
              <a:gd name="adj" fmla="val 8163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7042" y="4385691"/>
            <a:ext cx="281940" cy="197358"/>
          </a:xfrm>
          <a:prstGeom prst="roundRect">
            <a:avLst>
              <a:gd name="adj" fmla="val 11583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8012" y="4583049"/>
            <a:ext cx="0" cy="7048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583430" y="4653534"/>
            <a:ext cx="169164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5010912" y="432511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Pouca visibilidade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498848" y="489204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Informações difíceis de consolidar.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83296" y="4142232"/>
            <a:ext cx="3566160" cy="1344168"/>
          </a:xfrm>
          <a:prstGeom prst="roundRect">
            <a:avLst>
              <a:gd name="adj" fmla="val 8163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2564" y="4371594"/>
            <a:ext cx="225552" cy="28194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78952" y="4442079"/>
            <a:ext cx="112776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8378952" y="4512564"/>
            <a:ext cx="112776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8378952" y="4583049"/>
            <a:ext cx="70485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8778240" y="432511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dispersos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8266176" y="489204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Fechamentos com mais retrabalho.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94360" y="5815584"/>
            <a:ext cx="1947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→ 02 → 03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2542032" y="581558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→ conferir → consolidar: etapas de um fluxo ilustrativo.</a:t>
            </a:r>
            <a:endParaRPr lang="en-US" sz="12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plataforma. Toda a jornada conectada.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ponto, pessoas e decisões em um ecossistema centralizado.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DFE5F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7132320" cy="3054096"/>
          </a:xfrm>
          <a:prstGeom prst="roundRect">
            <a:avLst>
              <a:gd name="adj" fmla="val 538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3785616"/>
            <a:ext cx="1280160" cy="1280160"/>
          </a:xfrm>
          <a:prstGeom prst="ellipse">
            <a:avLst/>
          </a:prstGeom>
          <a:solidFill>
            <a:srgbClr val="6658EF"/>
          </a:solidFill>
          <a:ln w="12700">
            <a:solidFill>
              <a:srgbClr val="665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28466" y="4094226"/>
            <a:ext cx="434340" cy="434340"/>
          </a:xfrm>
          <a:prstGeom prst="ellipse">
            <a:avLst/>
          </a:prstGeom>
          <a:solidFill>
            <a:srgbClr val="6658E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45636" y="4181094"/>
            <a:ext cx="0" cy="13030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945636" y="4311396"/>
            <a:ext cx="108585" cy="65151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355848" y="5166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H="1" flipV="1">
            <a:off x="1536192" y="3611880"/>
            <a:ext cx="2395728" cy="804672"/>
          </a:xfrm>
          <a:prstGeom prst="line">
            <a:avLst/>
          </a:prstGeom>
          <a:noFill/>
          <a:ln w="15240">
            <a:solidFill>
              <a:srgbClr val="C8CEF1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04672" y="3282696"/>
            <a:ext cx="17830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0160">
            <a:solidFill>
              <a:srgbClr val="DF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47929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60120" y="3650742"/>
            <a:ext cx="0" cy="5715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V="1">
            <a:off x="960120" y="3605022"/>
            <a:ext cx="68580" cy="4572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28700" y="3605022"/>
            <a:ext cx="4572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74420" y="3605022"/>
            <a:ext cx="68580" cy="4572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43000" y="3650742"/>
            <a:ext cx="0" cy="5715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298448" y="342900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3630168" y="3456432"/>
            <a:ext cx="301752" cy="960120"/>
          </a:xfrm>
          <a:prstGeom prst="line">
            <a:avLst/>
          </a:prstGeom>
          <a:noFill/>
          <a:ln w="15240">
            <a:solidFill>
              <a:srgbClr val="C8CEF1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898648" y="3127248"/>
            <a:ext cx="17830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0160">
            <a:solidFill>
              <a:srgbClr val="DFE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42666" y="3323844"/>
            <a:ext cx="205740" cy="228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88386" y="3369564"/>
            <a:ext cx="2286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3088386" y="3426714"/>
            <a:ext cx="2286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3179826" y="3369564"/>
            <a:ext cx="2286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3179826" y="3426714"/>
            <a:ext cx="2286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122676" y="3495294"/>
            <a:ext cx="4572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2424" y="3273552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Filiais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 flipV="1">
            <a:off x="3931920" y="3611880"/>
            <a:ext cx="2176272" cy="804672"/>
          </a:xfrm>
          <a:prstGeom prst="line">
            <a:avLst/>
          </a:prstGeom>
          <a:noFill/>
          <a:ln w="15240">
            <a:solidFill>
              <a:srgbClr val="C8CEF1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5376672" y="3282696"/>
            <a:ext cx="17830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0160">
            <a:solidFill>
              <a:srgbClr val="DFE5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09260" y="3513582"/>
            <a:ext cx="228600" cy="19431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09260" y="3570732"/>
            <a:ext cx="22860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5566410" y="3479292"/>
            <a:ext cx="0" cy="5715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5680710" y="3479292"/>
            <a:ext cx="0" cy="5715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566410" y="3627882"/>
            <a:ext cx="3429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5646420" y="3627882"/>
            <a:ext cx="3429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870448" y="342900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 flipH="1">
            <a:off x="1810512" y="4416552"/>
            <a:ext cx="2121408" cy="886968"/>
          </a:xfrm>
          <a:prstGeom prst="line">
            <a:avLst/>
          </a:prstGeom>
          <a:noFill/>
          <a:ln w="15240">
            <a:solidFill>
              <a:srgbClr val="C8CEF1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1078992" y="4974336"/>
            <a:ext cx="17830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0160">
            <a:solidFill>
              <a:srgbClr val="DFE5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11580" y="5170932"/>
            <a:ext cx="228600" cy="2286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57300" y="5285232"/>
            <a:ext cx="45720" cy="4572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 flipV="1">
            <a:off x="1303020" y="5239512"/>
            <a:ext cx="91440" cy="9144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1572768" y="512064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Solicitações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931920" y="4416552"/>
            <a:ext cx="1965960" cy="886968"/>
          </a:xfrm>
          <a:prstGeom prst="line">
            <a:avLst/>
          </a:prstGeom>
          <a:noFill/>
          <a:ln w="15240">
            <a:solidFill>
              <a:srgbClr val="C8CEF1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5166360" y="4974336"/>
            <a:ext cx="178308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0160">
            <a:solidFill>
              <a:srgbClr val="DFE5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21808" y="5170932"/>
            <a:ext cx="182880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67528" y="5228082"/>
            <a:ext cx="9144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5367528" y="5285232"/>
            <a:ext cx="9144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5367528" y="5342382"/>
            <a:ext cx="5715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5660136" y="512064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10128" y="3785616"/>
            <a:ext cx="1280160" cy="1280160"/>
          </a:xfrm>
          <a:prstGeom prst="ellipse">
            <a:avLst/>
          </a:prstGeom>
          <a:solidFill>
            <a:srgbClr val="6658EF"/>
          </a:solidFill>
          <a:ln w="12700">
            <a:solidFill>
              <a:srgbClr val="6658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28466" y="4094226"/>
            <a:ext cx="434340" cy="434340"/>
          </a:xfrm>
          <a:prstGeom prst="ellipse">
            <a:avLst/>
          </a:prstGeom>
          <a:solidFill>
            <a:srgbClr val="6658E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45636" y="4181094"/>
            <a:ext cx="0" cy="13030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3945636" y="4311396"/>
            <a:ext cx="108585" cy="65151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8266176" y="3090672"/>
            <a:ext cx="365760" cy="256032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49056" y="3346704"/>
            <a:ext cx="0" cy="9144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339328" y="3438144"/>
            <a:ext cx="219456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6" name="Text 64"/>
          <p:cNvSpPr/>
          <p:nvPr/>
        </p:nvSpPr>
        <p:spPr>
          <a:xfrm>
            <a:off x="8229600" y="36758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2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navegador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8229600" y="4187952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 à operação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uma interface central.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8229600" y="5129784"/>
            <a:ext cx="3108960" cy="310896"/>
          </a:xfrm>
          <a:prstGeom prst="roundRect">
            <a:avLst>
              <a:gd name="adj" fmla="val 35294"/>
            </a:avLst>
          </a:prstGeom>
          <a:solidFill>
            <a:srgbClr val="EBEDFF"/>
          </a:solidFill>
          <a:ln w="12700">
            <a:solidFill>
              <a:srgbClr val="EBED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21040" y="5129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RESPONSIVO PARA CELULAR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A9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RECONHECIMENTO FACIAL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Seu rosto simplifica o registro.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 e registro de ponto com a câmera, em uma experiência intuitiva.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2B3856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41248" y="2770632"/>
            <a:ext cx="2770632" cy="3438144"/>
          </a:xfrm>
          <a:prstGeom prst="roundRect">
            <a:avLst>
              <a:gd name="adj" fmla="val 8251"/>
            </a:avLst>
          </a:prstGeom>
          <a:solidFill>
            <a:srgbClr val="050D21"/>
          </a:solidFill>
          <a:ln w="12700">
            <a:solidFill>
              <a:srgbClr val="050D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2916936"/>
            <a:ext cx="2496312" cy="3118104"/>
          </a:xfrm>
          <a:prstGeom prst="roundRect">
            <a:avLst>
              <a:gd name="adj" fmla="val 6593"/>
            </a:avLst>
          </a:prstGeom>
          <a:solidFill>
            <a:srgbClr val="EAF0FC"/>
          </a:solidFill>
          <a:ln w="12700">
            <a:solidFill>
              <a:srgbClr val="EAF0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19656" y="3008376"/>
            <a:ext cx="841248" cy="91440"/>
          </a:xfrm>
          <a:prstGeom prst="roundRect">
            <a:avLst>
              <a:gd name="adj" fmla="val 40000"/>
            </a:avLst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30098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Reconhecimento facial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83080" y="3849624"/>
            <a:ext cx="850392" cy="850392"/>
          </a:xfrm>
          <a:prstGeom prst="ellipse">
            <a:avLst/>
          </a:prstGeom>
          <a:solidFill>
            <a:srgbClr val="BCC9E2"/>
          </a:solidFill>
          <a:ln w="12700">
            <a:solidFill>
              <a:srgbClr val="BCC9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4645152"/>
            <a:ext cx="1609344" cy="512064"/>
          </a:xfrm>
          <a:prstGeom prst="roundRect">
            <a:avLst>
              <a:gd name="adj" fmla="val 39286"/>
            </a:avLst>
          </a:prstGeom>
          <a:solidFill>
            <a:srgbClr val="BCC9E2"/>
          </a:solidFill>
          <a:ln w="12700">
            <a:solidFill>
              <a:srgbClr val="BCC9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559052" y="3790188"/>
            <a:ext cx="0" cy="397764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559052" y="3790188"/>
            <a:ext cx="397764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487168" y="3790188"/>
            <a:ext cx="397764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884932" y="3790188"/>
            <a:ext cx="0" cy="397764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884932" y="4718304"/>
            <a:ext cx="0" cy="397764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flipH="1">
            <a:off x="2487168" y="5116068"/>
            <a:ext cx="397764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flipH="1">
            <a:off x="1559052" y="5116068"/>
            <a:ext cx="397764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1559052" y="4718304"/>
            <a:ext cx="0" cy="397764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956816" y="4055364"/>
            <a:ext cx="530352" cy="530352"/>
          </a:xfrm>
          <a:prstGeom prst="ellipse">
            <a:avLst/>
          </a:prstGeom>
          <a:solidFill>
            <a:srgbClr val="EAF0FC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90522" y="4850892"/>
            <a:ext cx="66294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252728" y="5404104"/>
            <a:ext cx="1975104" cy="365760"/>
          </a:xfrm>
          <a:prstGeom prst="roundRect">
            <a:avLst>
              <a:gd name="adj" fmla="val 30000"/>
            </a:avLst>
          </a:prstGeom>
          <a:solidFill>
            <a:srgbClr val="22BA90"/>
          </a:solidFill>
          <a:ln w="12700">
            <a:solidFill>
              <a:srgbClr val="22BA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44168" y="5431536"/>
            <a:ext cx="1792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ponto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52728" y="586130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ilustrativa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15028" y="2924556"/>
            <a:ext cx="259080" cy="25908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6844" y="3054096"/>
            <a:ext cx="51816" cy="51816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flipV="1">
            <a:off x="4518660" y="3002280"/>
            <a:ext cx="103632" cy="103632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4919472" y="28529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Praticidade no dia a dia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919472" y="32095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câmera faz parte do fluxo de acesso.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415028" y="3701796"/>
            <a:ext cx="259080" cy="25908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6844" y="3831336"/>
            <a:ext cx="51816" cy="51816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4518660" y="3779520"/>
            <a:ext cx="103632" cy="103632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4919472" y="36301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Experiência sem senha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919472" y="398678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Reconhecimento facial como alternativa ao login.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44568" y="4479036"/>
            <a:ext cx="116586" cy="51816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 flipH="1">
            <a:off x="4635246" y="4530852"/>
            <a:ext cx="25908" cy="14249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flipH="1">
            <a:off x="4544568" y="4673346"/>
            <a:ext cx="90678" cy="777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flipH="1" flipV="1">
            <a:off x="4453890" y="4673346"/>
            <a:ext cx="90678" cy="777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flipH="1" flipV="1">
            <a:off x="4427982" y="4530852"/>
            <a:ext cx="25908" cy="14249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 flipV="1">
            <a:off x="4427982" y="4479036"/>
            <a:ext cx="116586" cy="51816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4492752" y="4608576"/>
            <a:ext cx="38862" cy="38862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 flipV="1">
            <a:off x="4531614" y="4569714"/>
            <a:ext cx="77724" cy="777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4919472" y="44074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controle de identidade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919472" y="47640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Ajuda a reduzir registros por terceiros.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415028" y="5256276"/>
            <a:ext cx="259080" cy="25908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66844" y="5385816"/>
            <a:ext cx="51816" cy="51816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 flipV="1">
            <a:off x="4518660" y="5334000"/>
            <a:ext cx="103632" cy="103632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4919472" y="51846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locais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4919472" y="554126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Processamento facial com modelos carregados localmente.</a:t>
            </a:r>
            <a:endParaRPr lang="en-US" sz="13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PRINCIPAIS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Tudo o que a operação precisa, em um só lugar.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DFE5F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2633472" cy="1554480"/>
          </a:xfrm>
          <a:prstGeom prst="roundRect">
            <a:avLst>
              <a:gd name="adj" fmla="val 76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743200"/>
            <a:ext cx="521208" cy="521208"/>
          </a:xfrm>
          <a:prstGeom prst="roundRect">
            <a:avLst>
              <a:gd name="adj" fmla="val 21053"/>
            </a:avLst>
          </a:prstGeom>
          <a:solidFill>
            <a:srgbClr val="E9E7FF"/>
          </a:solidFill>
          <a:ln w="12700">
            <a:solidFill>
              <a:srgbClr val="E9E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0486" y="2870454"/>
            <a:ext cx="266700" cy="2667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3836" y="2923794"/>
            <a:ext cx="0" cy="800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3836" y="3003804"/>
            <a:ext cx="66675" cy="4000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13232" y="341071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ponto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64992" y="2578608"/>
            <a:ext cx="2633472" cy="1554480"/>
          </a:xfrm>
          <a:prstGeom prst="roundRect">
            <a:avLst>
              <a:gd name="adj" fmla="val 76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9584" y="2743200"/>
            <a:ext cx="521208" cy="521208"/>
          </a:xfrm>
          <a:prstGeom prst="roundRect">
            <a:avLst>
              <a:gd name="adj" fmla="val 21053"/>
            </a:avLst>
          </a:prstGeom>
          <a:solidFill>
            <a:srgbClr val="E9E7FF"/>
          </a:solidFill>
          <a:ln w="12700">
            <a:solidFill>
              <a:srgbClr val="E9E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656838" y="2870454"/>
            <a:ext cx="0" cy="800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656838" y="2870454"/>
            <a:ext cx="800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843528" y="2870454"/>
            <a:ext cx="800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3538" y="2870454"/>
            <a:ext cx="0" cy="800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3923538" y="3057144"/>
            <a:ext cx="0" cy="800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flipH="1">
            <a:off x="3843528" y="3137154"/>
            <a:ext cx="800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H="1">
            <a:off x="3656838" y="3137154"/>
            <a:ext cx="800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flipV="1">
            <a:off x="3656838" y="3057144"/>
            <a:ext cx="0" cy="800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736848" y="2923794"/>
            <a:ext cx="106680" cy="1066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3513" y="3083814"/>
            <a:ext cx="13335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3529584" y="341071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por senha ou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reconhecimento facial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1344" y="2578608"/>
            <a:ext cx="2633472" cy="1554480"/>
          </a:xfrm>
          <a:prstGeom prst="roundRect">
            <a:avLst>
              <a:gd name="adj" fmla="val 76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5936" y="2743200"/>
            <a:ext cx="521208" cy="521208"/>
          </a:xfrm>
          <a:prstGeom prst="roundRect">
            <a:avLst>
              <a:gd name="adj" fmla="val 21053"/>
            </a:avLst>
          </a:prstGeom>
          <a:solidFill>
            <a:srgbClr val="E9E7FF"/>
          </a:solidFill>
          <a:ln w="12700">
            <a:solidFill>
              <a:srgbClr val="E9E7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53200" y="2870454"/>
            <a:ext cx="106680" cy="1066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499860" y="3070479"/>
            <a:ext cx="0" cy="6667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flipV="1">
            <a:off x="6499860" y="3017139"/>
            <a:ext cx="80010" cy="5334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6579870" y="3017139"/>
            <a:ext cx="5334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633210" y="3017139"/>
            <a:ext cx="80010" cy="5334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6713220" y="3070479"/>
            <a:ext cx="0" cy="6667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6345936" y="341071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Funcionários, cargos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departamentos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997696" y="2578608"/>
            <a:ext cx="2633472" cy="1554480"/>
          </a:xfrm>
          <a:prstGeom prst="roundRect">
            <a:avLst>
              <a:gd name="adj" fmla="val 76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62288" y="2743200"/>
            <a:ext cx="521208" cy="521208"/>
          </a:xfrm>
          <a:prstGeom prst="roundRect">
            <a:avLst>
              <a:gd name="adj" fmla="val 21053"/>
            </a:avLst>
          </a:prstGeom>
          <a:solidFill>
            <a:srgbClr val="E9E7FF"/>
          </a:solidFill>
          <a:ln w="12700">
            <a:solidFill>
              <a:srgbClr val="E9E7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02877" y="2870454"/>
            <a:ext cx="240030" cy="2667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56217" y="2923794"/>
            <a:ext cx="2667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356217" y="2990469"/>
            <a:ext cx="2667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462897" y="2923794"/>
            <a:ext cx="2667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9462897" y="2990469"/>
            <a:ext cx="2667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9396222" y="3070479"/>
            <a:ext cx="53340" cy="66675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62288" y="341071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filiais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8640" y="4334256"/>
            <a:ext cx="2633472" cy="1554480"/>
          </a:xfrm>
          <a:prstGeom prst="roundRect">
            <a:avLst>
              <a:gd name="adj" fmla="val 76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" y="4498848"/>
            <a:ext cx="521208" cy="521208"/>
          </a:xfrm>
          <a:prstGeom prst="roundRect">
            <a:avLst>
              <a:gd name="adj" fmla="val 21053"/>
            </a:avLst>
          </a:prstGeom>
          <a:solidFill>
            <a:srgbClr val="E9E7FF"/>
          </a:solidFill>
          <a:ln w="12700">
            <a:solidFill>
              <a:srgbClr val="E9E7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0486" y="4666107"/>
            <a:ext cx="266700" cy="22669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0486" y="4732782"/>
            <a:ext cx="26670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907161" y="4626102"/>
            <a:ext cx="0" cy="6667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040511" y="4626102"/>
            <a:ext cx="0" cy="6667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907161" y="4799457"/>
            <a:ext cx="40005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000506" y="4799457"/>
            <a:ext cx="40005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/>
          <p:nvPr/>
        </p:nvSpPr>
        <p:spPr>
          <a:xfrm>
            <a:off x="713232" y="516636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Escalas, horários,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feriados e regras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364992" y="4334256"/>
            <a:ext cx="2633472" cy="1554480"/>
          </a:xfrm>
          <a:prstGeom prst="roundRect">
            <a:avLst>
              <a:gd name="adj" fmla="val 76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29584" y="4498848"/>
            <a:ext cx="521208" cy="521208"/>
          </a:xfrm>
          <a:prstGeom prst="roundRect">
            <a:avLst>
              <a:gd name="adj" fmla="val 21053"/>
            </a:avLst>
          </a:prstGeom>
          <a:solidFill>
            <a:srgbClr val="E9E7FF"/>
          </a:solidFill>
          <a:ln w="12700">
            <a:solidFill>
              <a:srgbClr val="E9E7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6838" y="4626102"/>
            <a:ext cx="266700" cy="2667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10178" y="4759452"/>
            <a:ext cx="53340" cy="5334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 flipV="1">
            <a:off x="3763518" y="4706112"/>
            <a:ext cx="106680" cy="10668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3" name="Text 61"/>
          <p:cNvSpPr/>
          <p:nvPr/>
        </p:nvSpPr>
        <p:spPr>
          <a:xfrm>
            <a:off x="3529584" y="516636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Solicitações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aprovações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81344" y="4334256"/>
            <a:ext cx="2633472" cy="1554480"/>
          </a:xfrm>
          <a:prstGeom prst="roundRect">
            <a:avLst>
              <a:gd name="adj" fmla="val 76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45936" y="4498848"/>
            <a:ext cx="521208" cy="521208"/>
          </a:xfrm>
          <a:prstGeom prst="roundRect">
            <a:avLst>
              <a:gd name="adj" fmla="val 21053"/>
            </a:avLst>
          </a:prstGeom>
          <a:solidFill>
            <a:srgbClr val="E9E7FF"/>
          </a:solidFill>
          <a:ln w="12700">
            <a:solidFill>
              <a:srgbClr val="E9E7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86525" y="4639437"/>
            <a:ext cx="240030" cy="25336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66535" y="4612767"/>
            <a:ext cx="800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6566535" y="4692777"/>
            <a:ext cx="80010" cy="8001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39865" y="4839462"/>
            <a:ext cx="13335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70" name="Text 68"/>
          <p:cNvSpPr/>
          <p:nvPr/>
        </p:nvSpPr>
        <p:spPr>
          <a:xfrm>
            <a:off x="6345936" y="516636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Crachás digitais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validação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997696" y="4334256"/>
            <a:ext cx="2633472" cy="1554480"/>
          </a:xfrm>
          <a:prstGeom prst="roundRect">
            <a:avLst>
              <a:gd name="adj" fmla="val 76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62288" y="4498848"/>
            <a:ext cx="521208" cy="521208"/>
          </a:xfrm>
          <a:prstGeom prst="roundRect">
            <a:avLst>
              <a:gd name="adj" fmla="val 21053"/>
            </a:avLst>
          </a:prstGeom>
          <a:solidFill>
            <a:srgbClr val="E9E7FF"/>
          </a:solidFill>
          <a:ln w="12700">
            <a:solidFill>
              <a:srgbClr val="E9E7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22892" y="4626102"/>
            <a:ext cx="120015" cy="5334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 flipH="1">
            <a:off x="9516237" y="4679442"/>
            <a:ext cx="26670" cy="14668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 flipH="1">
            <a:off x="9422892" y="4826127"/>
            <a:ext cx="93345" cy="800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 flipH="1" flipV="1">
            <a:off x="9329547" y="4826127"/>
            <a:ext cx="93345" cy="800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 flipH="1" flipV="1">
            <a:off x="9302877" y="4679442"/>
            <a:ext cx="26670" cy="14668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 flipV="1">
            <a:off x="9302877" y="4626102"/>
            <a:ext cx="120015" cy="5334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9369552" y="4759452"/>
            <a:ext cx="40005" cy="40005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 flipV="1">
            <a:off x="9409557" y="4719447"/>
            <a:ext cx="80010" cy="800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81" name="Text 79"/>
          <p:cNvSpPr/>
          <p:nvPr/>
        </p:nvSpPr>
        <p:spPr>
          <a:xfrm>
            <a:off x="9162288" y="516636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Perfis de acesso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responsabilidade</a:t>
            </a:r>
            <a:endParaRPr lang="en-US" sz="16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PAINEL DE GESTÃO EM TEMPO REAL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visão rápida para decidir melhor.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Pessoas, unidades, registros e pendências reunidos na mesma tela.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DFE5F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94944" y="2779776"/>
            <a:ext cx="10808208" cy="3364992"/>
          </a:xfrm>
          <a:prstGeom prst="roundRect">
            <a:avLst>
              <a:gd name="adj" fmla="val 4076"/>
            </a:avLst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2880360"/>
            <a:ext cx="10588752" cy="3090672"/>
          </a:xfrm>
          <a:prstGeom prst="roundRect">
            <a:avLst>
              <a:gd name="adj" fmla="val 23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880360"/>
            <a:ext cx="1353312" cy="3090672"/>
          </a:xfrm>
          <a:prstGeom prst="rect">
            <a:avLst/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4495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" y="3630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50976" y="3986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" y="4343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Filiais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0976" y="47000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Solicitações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50976" y="5056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68296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70264" y="3054096"/>
            <a:ext cx="2121408" cy="310896"/>
          </a:xfrm>
          <a:prstGeom prst="roundRect">
            <a:avLst>
              <a:gd name="adj" fmla="val 35294"/>
            </a:avLst>
          </a:prstGeom>
          <a:solidFill>
            <a:srgbClr val="EBEDFF"/>
          </a:solidFill>
          <a:ln w="12700">
            <a:solidFill>
              <a:srgbClr val="EBE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61704" y="305409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ILUSTRATIVOS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68296" y="3611880"/>
            <a:ext cx="15910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78024" y="3712464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3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2478024" y="411480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Funcionários ativos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96512" y="3611880"/>
            <a:ext cx="15910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712464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3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4206240" y="411480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Filiais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24728" y="3611880"/>
            <a:ext cx="15910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34456" y="3712464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3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5934456" y="411480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do dia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52944" y="3611880"/>
            <a:ext cx="15910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62672" y="3712464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3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7.680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7662672" y="411480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do mês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281160" y="3611880"/>
            <a:ext cx="15910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90888" y="3712464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3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9390888" y="411480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Solicitações pendentes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68296" y="4599432"/>
            <a:ext cx="49377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23744" y="4672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por dia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98064" y="5142147"/>
            <a:ext cx="320040" cy="399117"/>
          </a:xfrm>
          <a:prstGeom prst="roundRect">
            <a:avLst>
              <a:gd name="adj" fmla="val 7143"/>
            </a:avLst>
          </a:prstGeom>
          <a:solidFill>
            <a:srgbClr val="A6B8FA"/>
          </a:solidFill>
          <a:ln w="12700">
            <a:solidFill>
              <a:srgbClr val="A6B8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4912" y="4956048"/>
            <a:ext cx="484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724912" y="5577840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21024" y="5114934"/>
            <a:ext cx="320040" cy="426330"/>
          </a:xfrm>
          <a:prstGeom prst="roundRect">
            <a:avLst>
              <a:gd name="adj" fmla="val 7143"/>
            </a:avLst>
          </a:prstGeom>
          <a:solidFill>
            <a:srgbClr val="A6B8FA"/>
          </a:solidFill>
          <a:ln w="12700">
            <a:solidFill>
              <a:srgbClr val="A6B8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47872" y="4956048"/>
            <a:ext cx="484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376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547872" y="5577840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443984" y="5133076"/>
            <a:ext cx="320040" cy="408188"/>
          </a:xfrm>
          <a:prstGeom prst="roundRect">
            <a:avLst>
              <a:gd name="adj" fmla="val 7143"/>
            </a:avLst>
          </a:prstGeom>
          <a:solidFill>
            <a:srgbClr val="A6B8FA"/>
          </a:solidFill>
          <a:ln w="12700">
            <a:solidFill>
              <a:srgbClr val="A6B8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4956048"/>
            <a:ext cx="484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370832" y="5577840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266944" y="5096792"/>
            <a:ext cx="320040" cy="444472"/>
          </a:xfrm>
          <a:prstGeom prst="roundRect">
            <a:avLst>
              <a:gd name="adj" fmla="val 7143"/>
            </a:avLst>
          </a:prstGeom>
          <a:solidFill>
            <a:srgbClr val="A6B8FA"/>
          </a:solidFill>
          <a:ln w="12700">
            <a:solidFill>
              <a:srgbClr val="A6B8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93792" y="4956048"/>
            <a:ext cx="484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93792" y="5577840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089904" y="5105863"/>
            <a:ext cx="320040" cy="435401"/>
          </a:xfrm>
          <a:prstGeom prst="roundRect">
            <a:avLst>
              <a:gd name="adj" fmla="val 7143"/>
            </a:avLst>
          </a:prstGeom>
          <a:solidFill>
            <a:srgbClr val="6658EF"/>
          </a:solidFill>
          <a:ln w="12700">
            <a:solidFill>
              <a:srgbClr val="6658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16752" y="4956048"/>
            <a:ext cx="484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016752" y="5577840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Sex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461504" y="4599432"/>
            <a:ext cx="3657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35240" y="4672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do dia por tipo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635240" y="496519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244584" y="4983480"/>
            <a:ext cx="1353312" cy="82296"/>
          </a:xfrm>
          <a:prstGeom prst="roundRect">
            <a:avLst>
              <a:gd name="adj" fmla="val 16667"/>
            </a:avLst>
          </a:prstGeom>
          <a:solidFill>
            <a:srgbClr val="6658EF"/>
          </a:solidFill>
          <a:ln w="12700">
            <a:solidFill>
              <a:srgbClr val="6658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25912" y="49651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635240" y="51389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 intervalo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244584" y="5157216"/>
            <a:ext cx="1353312" cy="82296"/>
          </a:xfrm>
          <a:prstGeom prst="roundRect">
            <a:avLst>
              <a:gd name="adj" fmla="val 16667"/>
            </a:avLst>
          </a:prstGeom>
          <a:solidFill>
            <a:srgbClr val="4479F5"/>
          </a:solidFill>
          <a:ln w="12700">
            <a:solidFill>
              <a:srgbClr val="4479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725912" y="51389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635240" y="531266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intervalo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9244584" y="5330952"/>
            <a:ext cx="1353312" cy="82296"/>
          </a:xfrm>
          <a:prstGeom prst="roundRect">
            <a:avLst>
              <a:gd name="adj" fmla="val 16667"/>
            </a:avLst>
          </a:prstGeom>
          <a:solidFill>
            <a:srgbClr val="8393C5"/>
          </a:solidFill>
          <a:ln w="12700">
            <a:solidFill>
              <a:srgbClr val="8393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25912" y="531266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635240" y="54864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44584" y="5504688"/>
            <a:ext cx="1353312" cy="82296"/>
          </a:xfrm>
          <a:prstGeom prst="roundRect">
            <a:avLst>
              <a:gd name="adj" fmla="val 16667"/>
            </a:avLst>
          </a:prstGeom>
          <a:solidFill>
            <a:srgbClr val="22BA90"/>
          </a:solidFill>
          <a:ln w="12700">
            <a:solidFill>
              <a:srgbClr val="22BA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725912" y="548640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102352" y="6153912"/>
            <a:ext cx="1984248" cy="82296"/>
          </a:xfrm>
          <a:prstGeom prst="roundRect">
            <a:avLst>
              <a:gd name="adj" fmla="val 27778"/>
            </a:avLst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QUE FACILITAM DECISÕES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jornada registrada à informação útil.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Leituras individuais e coletivas para acompanhar o período e apoiar o fechamento.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DFE5F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2460" y="2977134"/>
            <a:ext cx="188976" cy="236220"/>
          </a:xfrm>
          <a:prstGeom prst="roundRect">
            <a:avLst>
              <a:gd name="adj" fmla="val 12097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9704" y="3036189"/>
            <a:ext cx="944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79704" y="3095244"/>
            <a:ext cx="944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79704" y="3154299"/>
            <a:ext cx="59055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060704" y="2889504"/>
            <a:ext cx="4032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Horas trabalhadas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0704" y="3209544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Acompanhe a jornada realizada.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60" y="3644646"/>
            <a:ext cx="188976" cy="236220"/>
          </a:xfrm>
          <a:prstGeom prst="roundRect">
            <a:avLst>
              <a:gd name="adj" fmla="val 12097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704" y="3703701"/>
            <a:ext cx="944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79704" y="3762756"/>
            <a:ext cx="944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79704" y="3821811"/>
            <a:ext cx="59055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060704" y="3557016"/>
            <a:ext cx="4032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 de horas e horas extras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0704" y="387705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Veja saldos e ocorrências.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2460" y="4312158"/>
            <a:ext cx="188976" cy="236220"/>
          </a:xfrm>
          <a:prstGeom prst="roundRect">
            <a:avLst>
              <a:gd name="adj" fmla="val 12097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704" y="4371213"/>
            <a:ext cx="944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79704" y="4430268"/>
            <a:ext cx="944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79704" y="4489323"/>
            <a:ext cx="59055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060704" y="4224528"/>
            <a:ext cx="4032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Atrasos e faltas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0704" y="4544568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Identifique pontos de atenção.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2460" y="4979670"/>
            <a:ext cx="188976" cy="236220"/>
          </a:xfrm>
          <a:prstGeom prst="roundRect">
            <a:avLst>
              <a:gd name="adj" fmla="val 12097"/>
            </a:avLst>
          </a:prstGeom>
          <a:solidFill>
            <a:srgbClr val="FFFFFF"/>
          </a:solidFill>
          <a:ln w="10160">
            <a:solidFill>
              <a:srgbClr val="6658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9704" y="5038725"/>
            <a:ext cx="944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79704" y="5097780"/>
            <a:ext cx="94488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679704" y="5156835"/>
            <a:ext cx="59055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1060704" y="4892040"/>
            <a:ext cx="4032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Extrato individual e coletivo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60704" y="5212080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Detalhe pessoas ou consolide equipes.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577900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EBEDFF"/>
          </a:solidFill>
          <a:ln w="12700">
            <a:solidFill>
              <a:srgbClr val="EBE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7790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792224" y="5779008"/>
            <a:ext cx="832104" cy="310896"/>
          </a:xfrm>
          <a:prstGeom prst="roundRect">
            <a:avLst>
              <a:gd name="adj" fmla="val 35294"/>
            </a:avLst>
          </a:prstGeom>
          <a:solidFill>
            <a:srgbClr val="EBEDFF"/>
          </a:solidFill>
          <a:ln w="12700">
            <a:solidFill>
              <a:srgbClr val="EBE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83664" y="5779008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50408" y="2852928"/>
            <a:ext cx="6089904" cy="3328416"/>
          </a:xfrm>
          <a:prstGeom prst="roundRect">
            <a:avLst>
              <a:gd name="adj" fmla="val 439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9008" y="30815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de jornada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902952" y="3090672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EBEDFF"/>
          </a:solidFill>
          <a:ln w="12700">
            <a:solidFill>
              <a:srgbClr val="EBED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94392" y="30906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ILUSTRATIVO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79008" y="36118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Horas trabalhadas por semana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35040" y="4133088"/>
            <a:ext cx="658368" cy="512064"/>
          </a:xfrm>
          <a:prstGeom prst="roundRect">
            <a:avLst>
              <a:gd name="adj" fmla="val 5357"/>
            </a:avLst>
          </a:prstGeom>
          <a:solidFill>
            <a:srgbClr val="B7C5EF"/>
          </a:solidFill>
          <a:ln w="12700">
            <a:solidFill>
              <a:srgbClr val="B7C5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16168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 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07024" y="4709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15200" y="4107485"/>
            <a:ext cx="658368" cy="537667"/>
          </a:xfrm>
          <a:prstGeom prst="roundRect">
            <a:avLst>
              <a:gd name="adj" fmla="val 5102"/>
            </a:avLst>
          </a:prstGeom>
          <a:solidFill>
            <a:srgbClr val="6658EF"/>
          </a:solidFill>
          <a:ln w="12700">
            <a:solidFill>
              <a:srgbClr val="6658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96328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 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87184" y="4709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595360" y="4158691"/>
            <a:ext cx="658368" cy="486461"/>
          </a:xfrm>
          <a:prstGeom prst="roundRect">
            <a:avLst>
              <a:gd name="adj" fmla="val 5639"/>
            </a:avLst>
          </a:prstGeom>
          <a:solidFill>
            <a:srgbClr val="B7C5EF"/>
          </a:solidFill>
          <a:ln w="12700">
            <a:solidFill>
              <a:srgbClr val="B7C5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76488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152 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67344" y="4709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875520" y="4133088"/>
            <a:ext cx="658368" cy="512064"/>
          </a:xfrm>
          <a:prstGeom prst="roundRect">
            <a:avLst>
              <a:gd name="adj" fmla="val 5357"/>
            </a:avLst>
          </a:prstGeom>
          <a:solidFill>
            <a:srgbClr val="B7C5EF"/>
          </a:solidFill>
          <a:ln w="12700">
            <a:solidFill>
              <a:srgbClr val="B7C5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56648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 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747504" y="4709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4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779008" y="5102352"/>
            <a:ext cx="5596128" cy="310896"/>
          </a:xfrm>
          <a:prstGeom prst="roundRect">
            <a:avLst>
              <a:gd name="adj" fmla="val 7353"/>
            </a:avLst>
          </a:prstGeom>
          <a:solidFill>
            <a:srgbClr val="E2E7F2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16168" y="5148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Colaborador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357616" y="5148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Trabalhadas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177272" y="5148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Saldo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16168" y="55229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 A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357616" y="55229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 h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177272" y="5522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684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+ 2 h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916168" y="5806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 B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357616" y="5806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 h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177272" y="5806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684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+ 4 h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A9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SEGURANÇA, CONTROLE E TECNOLOGIA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 por responsabilidade.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em cada etapa.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estrutura para organizar permissões e acompanhar ações.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2B3856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86968" y="3044952"/>
            <a:ext cx="2240280" cy="2240280"/>
          </a:xfrm>
          <a:prstGeom prst="ellipse">
            <a:avLst/>
          </a:prstGeom>
          <a:solidFill>
            <a:srgbClr val="192A4D"/>
          </a:solidFill>
          <a:ln w="12700">
            <a:solidFill>
              <a:srgbClr val="192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7108" y="3579114"/>
            <a:ext cx="387477" cy="172212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>
            <a:off x="2308479" y="3751326"/>
            <a:ext cx="86106" cy="473583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>
            <a:off x="2007108" y="4224909"/>
            <a:ext cx="301371" cy="25831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1705737" y="4224909"/>
            <a:ext cx="301371" cy="25831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1619631" y="3751326"/>
            <a:ext cx="86106" cy="473583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1619631" y="3579114"/>
            <a:ext cx="387477" cy="172212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834896" y="4009644"/>
            <a:ext cx="129159" cy="129159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1964055" y="3880485"/>
            <a:ext cx="258318" cy="25831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630936" y="5504688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acesso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46576" y="3137916"/>
            <a:ext cx="207264" cy="155448"/>
          </a:xfrm>
          <a:prstGeom prst="roundRect">
            <a:avLst>
              <a:gd name="adj" fmla="val 14706"/>
            </a:avLst>
          </a:prstGeom>
          <a:solidFill>
            <a:srgbClr val="101B38"/>
          </a:solidFill>
          <a:ln w="10160">
            <a:solidFill>
              <a:srgbClr val="22BA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5438" y="3021330"/>
            <a:ext cx="129540" cy="12954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6576" y="3137916"/>
            <a:ext cx="207264" cy="155448"/>
          </a:xfrm>
          <a:prstGeom prst="roundRect">
            <a:avLst>
              <a:gd name="adj" fmla="val 14706"/>
            </a:avLst>
          </a:prstGeom>
          <a:solidFill>
            <a:srgbClr val="101B38"/>
          </a:solidFill>
          <a:ln w="10160">
            <a:solidFill>
              <a:srgbClr val="22BA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50208" y="3189732"/>
            <a:ext cx="0" cy="51816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4261104" y="29535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 e sessões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261104" y="33009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Proteção de rotas e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acesso.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33360" y="3034284"/>
            <a:ext cx="207264" cy="259080"/>
          </a:xfrm>
          <a:prstGeom prst="roundRect">
            <a:avLst>
              <a:gd name="adj" fmla="val 11029"/>
            </a:avLst>
          </a:prstGeom>
          <a:solidFill>
            <a:srgbClr val="101B38"/>
          </a:solidFill>
          <a:ln w="10160">
            <a:solidFill>
              <a:srgbClr val="22BA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85176" y="3099054"/>
            <a:ext cx="103632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7885176" y="3163824"/>
            <a:ext cx="103632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885176" y="3228594"/>
            <a:ext cx="64770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8247888" y="29535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Auditoria de ações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247888" y="33009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Rastreabilidade das operações registradas.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flipV="1">
            <a:off x="3820668" y="3985260"/>
            <a:ext cx="0" cy="777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3820668" y="3985260"/>
            <a:ext cx="77724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002024" y="3985260"/>
            <a:ext cx="77724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079748" y="3985260"/>
            <a:ext cx="0" cy="777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079748" y="4166616"/>
            <a:ext cx="0" cy="777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flipH="1">
            <a:off x="4002024" y="4244340"/>
            <a:ext cx="77724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flipH="1">
            <a:off x="3820668" y="4244340"/>
            <a:ext cx="77724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flipV="1">
            <a:off x="3820668" y="4166616"/>
            <a:ext cx="0" cy="777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3898392" y="4037076"/>
            <a:ext cx="103632" cy="103632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85438" y="4192524"/>
            <a:ext cx="129540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4261104" y="390448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e câmera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4261104" y="4251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 segura e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permissões de câmera.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820406" y="3985260"/>
            <a:ext cx="233172" cy="259080"/>
          </a:xfrm>
          <a:prstGeom prst="roundRect">
            <a:avLst>
              <a:gd name="adj" fmla="val 9804"/>
            </a:avLst>
          </a:prstGeom>
          <a:solidFill>
            <a:srgbClr val="101B38"/>
          </a:solidFill>
          <a:ln w="10160">
            <a:solidFill>
              <a:srgbClr val="22BA9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72222" y="4037076"/>
            <a:ext cx="25908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7872222" y="4101846"/>
            <a:ext cx="25908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7975854" y="4037076"/>
            <a:ext cx="25908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7975854" y="4101846"/>
            <a:ext cx="25908" cy="0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7911084" y="4179570"/>
            <a:ext cx="51816" cy="64770"/>
          </a:xfrm>
          <a:prstGeom prst="roundRect">
            <a:avLst>
              <a:gd name="adj" fmla="val 44118"/>
            </a:avLst>
          </a:prstGeom>
          <a:solidFill>
            <a:srgbClr val="101B38"/>
          </a:solidFill>
          <a:ln w="10160">
            <a:solidFill>
              <a:srgbClr val="22BA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47888" y="390448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/ MariaDB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247888" y="4251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dados para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operação centralizada.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794760" y="52120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PERFIS DE ACESSO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794760" y="5605272"/>
            <a:ext cx="1307592" cy="310896"/>
          </a:xfrm>
          <a:prstGeom prst="roundRect">
            <a:avLst>
              <a:gd name="adj" fmla="val 35294"/>
            </a:avLst>
          </a:prstGeom>
          <a:solidFill>
            <a:srgbClr val="233254"/>
          </a:solidFill>
          <a:ln w="12700">
            <a:solidFill>
              <a:srgbClr val="2332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86200" y="5605272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CC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Funcionário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12080" y="5605272"/>
            <a:ext cx="1243584" cy="310896"/>
          </a:xfrm>
          <a:prstGeom prst="roundRect">
            <a:avLst>
              <a:gd name="adj" fmla="val 35294"/>
            </a:avLst>
          </a:prstGeom>
          <a:solidFill>
            <a:srgbClr val="233254"/>
          </a:solidFill>
          <a:ln w="12700">
            <a:solidFill>
              <a:srgbClr val="23325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0" y="560527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CC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65392" y="5605272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233254"/>
          </a:solidFill>
          <a:ln w="12700">
            <a:solidFill>
              <a:srgbClr val="23325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56832" y="56052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CC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Gestor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589520" y="560527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233254"/>
          </a:solidFill>
          <a:ln w="12700">
            <a:solidFill>
              <a:srgbClr val="23325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5605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CC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253728" y="5605272"/>
            <a:ext cx="2176272" cy="310896"/>
          </a:xfrm>
          <a:prstGeom prst="roundRect">
            <a:avLst>
              <a:gd name="adj" fmla="val 35294"/>
            </a:avLst>
          </a:prstGeom>
          <a:solidFill>
            <a:srgbClr val="233254"/>
          </a:solidFill>
          <a:ln w="12700">
            <a:solidFill>
              <a:srgbClr val="23325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45168" y="560527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CC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administrador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418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BENEFÍCIOS PARA A EMPRESA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dispersão. Mais fluidez na operação.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DFE5F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3867912" cy="3611880"/>
          </a:xfrm>
          <a:prstGeom prst="roundRect">
            <a:avLst>
              <a:gd name="adj" fmla="val 3544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614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" y="327355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200" b="1" dirty="0">
                <a:solidFill>
                  <a:srgbClr val="101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Processos distribuídos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" y="4105656"/>
            <a:ext cx="137160" cy="0"/>
          </a:xfrm>
          <a:prstGeom prst="line">
            <a:avLst/>
          </a:prstGeom>
          <a:noFill/>
          <a:ln w="19050">
            <a:solidFill>
              <a:srgbClr val="8995AD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088136" y="39410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e planilhas separados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" y="4498848"/>
            <a:ext cx="137160" cy="0"/>
          </a:xfrm>
          <a:prstGeom prst="line">
            <a:avLst/>
          </a:prstGeom>
          <a:noFill/>
          <a:ln w="19050">
            <a:solidFill>
              <a:srgbClr val="8995AD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088136" y="4334256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Conferências e pedidos manuais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" y="4892040"/>
            <a:ext cx="137160" cy="0"/>
          </a:xfrm>
          <a:prstGeom prst="line">
            <a:avLst/>
          </a:prstGeom>
          <a:noFill/>
          <a:ln w="19050">
            <a:solidFill>
              <a:srgbClr val="8995AD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088136" y="472744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fragmentada das filiais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" y="5285232"/>
            <a:ext cx="137160" cy="0"/>
          </a:xfrm>
          <a:prstGeom prst="line">
            <a:avLst/>
          </a:prstGeom>
          <a:noFill/>
          <a:ln w="19050">
            <a:solidFill>
              <a:srgbClr val="8995AD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088136" y="512064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montados a cada ciclo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81144" y="3895344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665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100" dirty="0"/>
          </a:p>
        </p:txBody>
      </p:sp>
      <p:sp>
        <p:nvSpPr>
          <p:cNvPr id="24" name="Shape 22"/>
          <p:cNvSpPr/>
          <p:nvPr/>
        </p:nvSpPr>
        <p:spPr>
          <a:xfrm>
            <a:off x="5404104" y="2523744"/>
            <a:ext cx="6236208" cy="3611880"/>
          </a:xfrm>
          <a:prstGeom prst="roundRect">
            <a:avLst>
              <a:gd name="adj" fmla="val 3544"/>
            </a:avLst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0136" y="2761488"/>
            <a:ext cx="5586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22B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PONTOFÁCIL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6524" y="3311652"/>
            <a:ext cx="198120" cy="19812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56148" y="3410712"/>
            <a:ext cx="39624" cy="396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flipV="1">
            <a:off x="5795772" y="3371088"/>
            <a:ext cx="79248" cy="7924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6126480" y="32369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de ponto centralizada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716524" y="3704844"/>
            <a:ext cx="198120" cy="19812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56148" y="3803904"/>
            <a:ext cx="39624" cy="396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flipV="1">
            <a:off x="5795772" y="3764280"/>
            <a:ext cx="79248" cy="7924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612648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Rotinas de RH e gestores mais ágeis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716524" y="4098036"/>
            <a:ext cx="198120" cy="19812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56148" y="4197096"/>
            <a:ext cx="39624" cy="396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 flipV="1">
            <a:off x="5795772" y="4157472"/>
            <a:ext cx="79248" cy="7924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612648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transparência sobre a jornada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716524" y="4491228"/>
            <a:ext cx="198120" cy="19812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56148" y="4590288"/>
            <a:ext cx="39624" cy="396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flipV="1">
            <a:off x="5795772" y="4550664"/>
            <a:ext cx="79248" cy="7924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6126480" y="4416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Acompanhamento de múltiplas filiais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716524" y="4884420"/>
            <a:ext cx="198120" cy="19812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56148" y="4983480"/>
            <a:ext cx="39624" cy="396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flipV="1">
            <a:off x="5795772" y="4943856"/>
            <a:ext cx="79248" cy="7924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6126480" y="48097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retrabalho em relatórios e exportações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716524" y="5277612"/>
            <a:ext cx="198120" cy="19812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22BA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56148" y="5376672"/>
            <a:ext cx="39624" cy="39624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 flipV="1">
            <a:off x="5795772" y="5337048"/>
            <a:ext cx="79248" cy="79248"/>
          </a:xfrm>
          <a:prstGeom prst="line">
            <a:avLst/>
          </a:prstGeom>
          <a:noFill/>
          <a:ln w="19050">
            <a:solidFill>
              <a:srgbClr val="22BA90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6126480" y="5202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Experiência moderna para colaboradores</a:t>
            </a:r>
            <a:endParaRPr lang="en-US" sz="15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8"/>
          </a:solidFill>
          <a:ln w="12700">
            <a:solidFill>
              <a:srgbClr val="101B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" y="315468"/>
            <a:ext cx="228600" cy="22860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61188"/>
            <a:ext cx="0" cy="685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429768"/>
            <a:ext cx="57150" cy="3429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9536" y="2697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71632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428232"/>
            <a:ext cx="11091672" cy="0"/>
          </a:xfrm>
          <a:prstGeom prst="line">
            <a:avLst/>
          </a:prstGeom>
          <a:noFill/>
          <a:ln w="8890">
            <a:solidFill>
              <a:srgbClr val="2B3856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 /  PESSOAS, JORNADA E GESTÃO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7220" y="425196"/>
            <a:ext cx="228600" cy="228600"/>
          </a:xfrm>
          <a:prstGeom prst="ellipse">
            <a:avLst/>
          </a:prstGeom>
          <a:solidFill>
            <a:srgbClr val="101B3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470916"/>
            <a:ext cx="0" cy="685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731520" y="539496"/>
            <a:ext cx="57150" cy="3429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950976" y="3794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1307592"/>
            <a:ext cx="2514600" cy="310896"/>
          </a:xfrm>
          <a:prstGeom prst="roundRect">
            <a:avLst>
              <a:gd name="adj" fmla="val 35294"/>
            </a:avLst>
          </a:prstGeom>
          <a:solidFill>
            <a:srgbClr val="233254"/>
          </a:solidFill>
          <a:ln w="12700">
            <a:solidFill>
              <a:srgbClr val="2332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13075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CC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CONHEÇA O PONTOFÁCIL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" y="1975104"/>
            <a:ext cx="857707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 o controle de ponto</a:t>
            </a:r>
            <a:endParaRPr lang="en-US" sz="3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uma experiência</a:t>
            </a:r>
            <a:endParaRPr lang="en-US" sz="3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simples e inteligente</a:t>
            </a:r>
            <a:endParaRPr lang="en-US" sz="3500" dirty="0"/>
          </a:p>
        </p:txBody>
      </p:sp>
      <p:sp>
        <p:nvSpPr>
          <p:cNvPr id="18" name="Text 15"/>
          <p:cNvSpPr/>
          <p:nvPr/>
        </p:nvSpPr>
        <p:spPr>
          <a:xfrm>
            <a:off x="594360" y="4032504"/>
            <a:ext cx="7708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PontoFácil conecta pessoas, jornada e gestão</a:t>
            </a:r>
            <a:endParaRPr lang="en-US" sz="2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uma única plataforma.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94360" y="5175504"/>
            <a:ext cx="3438144" cy="548640"/>
          </a:xfrm>
          <a:prstGeom prst="roundRect">
            <a:avLst>
              <a:gd name="adj" fmla="val 25000"/>
            </a:avLst>
          </a:prstGeom>
          <a:solidFill>
            <a:srgbClr val="6658EF"/>
          </a:solidFill>
          <a:ln w="12700">
            <a:solidFill>
              <a:srgbClr val="6658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5294376"/>
            <a:ext cx="3090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Agende uma demonstração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281160" y="1472184"/>
            <a:ext cx="2304288" cy="914400"/>
          </a:xfrm>
          <a:prstGeom prst="roundRect">
            <a:avLst>
              <a:gd name="adj" fmla="val 13000"/>
            </a:avLst>
          </a:prstGeom>
          <a:solidFill>
            <a:srgbClr val="253258"/>
          </a:solidFill>
          <a:ln w="10160">
            <a:solidFill>
              <a:srgbClr val="667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73184" y="170992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SUA LOGO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281160" y="2843784"/>
            <a:ext cx="2304288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10104882" y="3347466"/>
            <a:ext cx="0" cy="1943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10104882" y="3347466"/>
            <a:ext cx="1943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10558272" y="3347466"/>
            <a:ext cx="1943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10752582" y="3347466"/>
            <a:ext cx="0" cy="1943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>
            <a:off x="10752582" y="3800856"/>
            <a:ext cx="0" cy="1943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 flipH="1">
            <a:off x="10558272" y="3995166"/>
            <a:ext cx="1943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 flipH="1">
            <a:off x="10104882" y="3995166"/>
            <a:ext cx="19431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 flipV="1">
            <a:off x="10104882" y="3800856"/>
            <a:ext cx="0" cy="19431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10299192" y="3477006"/>
            <a:ext cx="259080" cy="2590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658E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266807" y="3865626"/>
            <a:ext cx="323850" cy="0"/>
          </a:xfrm>
          <a:prstGeom prst="line">
            <a:avLst/>
          </a:prstGeom>
          <a:noFill/>
          <a:ln w="19050">
            <a:solidFill>
              <a:srgbClr val="6658EF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/>
          <p:nvPr/>
        </p:nvSpPr>
        <p:spPr>
          <a:xfrm>
            <a:off x="9500616" y="4297680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Inserir QR Code</a:t>
            </a:r>
            <a:endParaRPr lang="en-US" sz="12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demonstração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" y="605332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[Nome do apresentador]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922776" y="605332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[Contato]  •  [Site]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235440" y="53309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AFB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reservado ao QR Code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PontoFácil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PontoFácil — Controle de ponto inteligente</dc:title>
  <dc:subject>Apresentação comercial</dc:subject>
  <dc:creator>PontoFácil</dc:creator>
  <cp:lastModifiedBy>PontoFácil</cp:lastModifiedBy>
  <cp:revision>1</cp:revision>
  <dcterms:created xsi:type="dcterms:W3CDTF">2026-09-15T23:13:04Z</dcterms:created>
  <dcterms:modified xsi:type="dcterms:W3CDTF">2026-09-15T23:13:04Z</dcterms:modified>
</cp:coreProperties>
</file>